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docs/MODULE4.md — read guides before running demos.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Trace while running module4/EXAMPLES.md labs.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detail in docs/MODULE4.md command reference.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detail in docs/MODULE4.md command reference.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detail in docs/MODULE4.md command reference.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from course repository root.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module4/examples/drivers/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module4/examples/monitors/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module4/examples/sequencers/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module4/examples/agents/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module4/examples/scoreboards/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module4/examples/tlm/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module4/examples/transactions/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5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56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5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58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59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60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61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62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Module 4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  <a:defRPr sz="2600" b="0">
                <a:solidFill>
                  <a:srgbClr val="333333"/>
                </a:solidFill>
                <a:latin typeface="Calibri"/>
              </a:defRPr>
            </a:pPr>
            <a:r>
              <a:t>UVM Components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Build complete UVM agents with driver, monitor,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See module README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path</a:t>
            </a:r>
          </a:p>
        </p:txBody>
      </p:sp>
      <p:pic>
        <p:nvPicPr>
          <p:cNvPr id="3" name="Picture 2" descr="learnin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Build complete UVM agents with driver, monitor, and sequencer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This module covers the core UVM components used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build verification environments. You'll learn ho…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How to learn this module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Suggested learning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 3 UVM hierarchy and phases must be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comfortable — agents bundle components you studied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separa…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Study `module4/dut/interfaces/simple_interface.v`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valid/ready handshake before driver labs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 examples in order: transactions → driver →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monitor → sequencer → scoreboard → TLM → agents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Read `InterfaceTransaction` field definitions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`copy`/`compare` before scoreboard integration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Integrated capstone is `test_complete_agent.py` — do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not skip per-component examples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Design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DUT and interface protocol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`module4/dut/interfaces/simple_i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nterface.v` — valid/ready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handshake, address/data/result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buses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Clocked, resettable interface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models streaming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maps one transaction type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to one interface beat</a:t>
            </a:r>
          </a:p>
        </p:txBody>
      </p:sp>
      <p:pic>
        <p:nvPicPr>
          <p:cNvPr id="4" name="Picture 3" descr="rtl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Agent-centric UVM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bundles driver, monitor,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sequencer; env holds agent +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scoreboard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TLM analysis ports connect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monitor → scoreboard (and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optional coverage)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`InterfaceTransaction` defines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fields, `copy`/`compare`,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constraints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 path: sequence →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sequencer → driver → DUT →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monitor → scoreboard</a:t>
            </a:r>
          </a:p>
        </p:txBody>
      </p:sp>
      <p:pic>
        <p:nvPicPr>
          <p:cNvPr id="4" name="Picture 3" descr="verificatio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Execution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Build: Verilator compiles `simple_interface.v`; env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builds agent (driver, monitor, sequencer) and s…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Connect: monitor `ap` → scoreboard `exp`/`act`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analysis imports; sequencer ↔ driver TLM ports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Sim: sequence items drive valid/ready beats; monitor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reconstructs transactions on completed handsha…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Check: scoreboard `compare` on monitored vs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predicted streams; UVM report summarizes mismatches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Component responsibilities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Driver: pull items from sequencer, drive pins per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protocol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Monitor: passive observation, broadcast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on analysis 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Sequencer: arbitration and sequence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Scoreboard: expected vs actual from monitor streams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Interface — valid/ready handshake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/**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Module 4: Simple Interface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A simple interface for UVM component testing.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Ports: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  clk:    Clock signal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  rst_n:  Active-low reset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  valid:  Valid signal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  ready:  Ready signal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  data:   Data bus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  address: Address bus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*/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module simple_interface (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input  wire       clk,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 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Agent-centric env wiring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"""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Module 4 Test: Complete Agent Test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Complete UVM testbench with driver, monitor, sequencer, and scoreboard.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"""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import cocotb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from cocotb.clock import Clock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from cocotb.triggers import Timer, RisingEdge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from pyuvm import *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 Explicitly import uvm_seq_item_pull_port - it may not be exported by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from pyuvm import *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 Try multiple possible import paths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_uvm_seq_item_pull_port = None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try: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# First try: check if it's in the namespace after from pyuvm import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*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_uvm_seq_item_pull_port = globals()['uvm_seq_item_pull_port']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except KeyError: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Key files to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Open these in the repo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`module4/dut/interfaces/simple_interface.v` —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valid/ready streaming interface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addr/data/result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`module4/examples/transactions/transaction_example.p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y` — sequence item fields and compare/copy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`module4/examples/drivers/driver_example.py` —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sequencer pull loop and pin wiggling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`module4/examples/monitors/monitor_example.py` —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passive sampling and analysis port broadcast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`module4/tests/pyuvm_tests/test_complete_agent.py` —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end-to-end agent, env, scoreboard integration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`scripts/module4.sh` — `--drivers` … `--agents`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example flags and `--pyuvm-tests`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Verification &amp; testing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Integration testing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`test_complete_agent.py` — end-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to-end agent, env, and test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class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Run: `./scripts/module4.sh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--pyuvm-tests` or `make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TEST=test_complete_agent`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Per-component examples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(`driver_example.py`, …) isolate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behavior before integration</a:t>
            </a:r>
          </a:p>
        </p:txBody>
      </p:sp>
      <p:pic>
        <p:nvPicPr>
          <p:cNvPr id="4" name="Picture 3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Checking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Scoreboard compares monitored results to predicted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model or golden vectors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Analysis port fan-out allows multiple checkers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without changing monitor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Sequences provide repeatable stimulus;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random/constrained extensions in exercises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Step-by-step lab execution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1. Transactions: `./scripts/module4.sh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--transactions`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2. Driver/monitor/sequencer: `./scripts/module4.sh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--drivers --monitors --sequencers`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3. Scoreboard/TLM: `./scripts/module4.sh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--scoreboards --tlm`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4. Agent assembly: `./scripts/module4.sh --agents`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5. Capstone: `./scripts/module4.sh --pyuvm-tests` —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confirm scoreboard clean and UVM TEST PASSED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Closure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Self-check via `./scripts/module4.sh --pyuvm-tests`;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demo screenshots per EXAMPLES.md section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Assessment: drivers, monitors, sequencers, agents,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scoreboards, TLM connections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You should trace one transaction from sequence item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through to scoreboard compare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Syllabus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UVM Agent Architecture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Overview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What is an agent?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components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purpose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types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Active vs Passive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UVM Agent Architecture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Active agents (driver + sequencer + monitor)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Passive agents (monitor only)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When to use each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 component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UVM Agent Architecture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Monitor component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Sequencer component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container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UVM Driver Implementation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 Overview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 purpose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 responsibilities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 interface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 lifecycle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UVM Driver Implementation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Inheriting from `uvm_driver`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`run_phase()` implementation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reception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driving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Driver-Sequencer Communication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`seq_item_port` interface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UVM Driver Implementation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`get_next_item()`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`item_done()`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flow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Signal-Level Driving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DUT signal access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value assignment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UVM Driver Implementation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 control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UVM Monitor Implementation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Monitor Overview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Monitor purpose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Monitor responsibilities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Monitor types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Monitor lifecycle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Monitor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UVM Monitor Implementation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Inheriting from `uvm_monitor`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`run_phase()` implementation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sampling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creation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Analysis Ports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Analysis port purpose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UVM Monitor Implementation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Creating analysis ports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Writing to analysis ports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Analysis port connections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Creation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Sampling signals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Creating transaction objects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UVM Monitor Implementation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Populating transaction fields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Broadcasting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UVM Sequencer and Sequences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Sequencer Overview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Sequencer purpose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Sequencer responsibilities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Sequencer types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Sequencer lifecycle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Sequencer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UVM Sequencer and Sequences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Inheriting from `uvm_sequencer`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Default sequencer usage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Custom sequencer features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Sequencer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Items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`uvm_sequence_item` base class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UVM Sequencer and Sequences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definition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fields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methods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Basics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`uvm_sequence` base class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`body()`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UVM Sequencer and Sequences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lifecycle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Operations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`start_item()`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`finish_item()`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`wait_for_grant()`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UVM Sequencer and Sequences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creation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TLM (Transaction-Level Modeling) - Complete Coverage (1/11)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TLM Overview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What is TLM?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TLM benefits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TLM abstraction levels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TLM communication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TLM Interface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4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TLM (Transaction-Level Modeling) - Complete Coverage (2/11)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`put` interface - Unidirectional blocking put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`get` interface - Unidirectional blocking get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`peek` interface - Unidirectional non-blocking peek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`transport` interface - Bidirectional blocking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transport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 characteristics and use cases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TLM Port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4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TLM (Transaction-Level Modeling) - Complete Coverage (3/11)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`uvm_put_port` - Put 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`uvm_get_port` - Get 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`uvm_peek_port` - Peek 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`uvm_transport_port` - Transport 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Port vs export vs implementation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TLM Export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4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TLM (Transaction-Level Modeling) - Complete Coverage (4/11)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`uvm_put_export` - Put export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`uvm_get_export` - Get export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`uvm_peek_export` - Peek export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`uvm_transport_export` - Transport export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Export usage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TLM Implementation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4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TLM (Transaction-Level Modeling) - Complete Coverage (5/11)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`uvm_put_imp` - Put implementation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`uvm_get_imp` - Get implementation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`uvm_peek_imp` - Peek implementation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`uvm_transport_imp` - Transport implementation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Implementation requirements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Analysis Ports and Exports (Special TLM Type)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4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TLM (Transaction-Level Modeling) - Complete Coverage (6/11)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Analysis port concept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Publisher-subscriber pattern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Broadcast communication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One-to-many connections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`uvm_analysis_port` - Analysis 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`uvm_analysis_export` - Analysis export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TLM (Transaction-Level Modeling) - Complete Coverage (7/11)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`uvm_analysis_imp` - Analysis implementation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Connection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TLM FIFOs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`uvm_tlm_fifo` - TLM FIFO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FIFO purpose and usage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FIFO capacity and blocking behavior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TLM (Transaction-Level Modeling) - Complete Coverage (8/11)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FIFO connection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When to use FIFOs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TLM Connection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Direct connections (port to export)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FIFO connections (port to FIFO to export)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Multi-port connections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4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TLM (Transaction-Level Modeling) - Complete Coverage (9/11)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Hierarchical connections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Connection best practices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TLM Usage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Producer-consumer pattern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Request-response pattern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Broadcast pattern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TLM (Transaction-Level Modeling) - Complete Coverage (10/11)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Pipeline pattern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TLM vs analysis ports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TLM Implementation Examples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Using put/get interfaces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Using transport interface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Using TLM FIFOs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4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TLM (Transaction-Level Modeling) - Complete Coverage (11/11)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Combining TLM types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TLM debugging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4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Scoreboard Implementation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Scoreboard Overview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Scoreboard purpose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Scoreboard types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Scoreboard responsibilities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Scoreboard lifecycle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Scoreboard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4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Scoreboard Implementation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Inheriting from `uvm_component`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Analysis port connections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storage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Comparison logic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Scoreboard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Reference model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4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Scoreboard Implementation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Expected vs actual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matching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Error reporting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Advanced Scoreboards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Multi-channel scoreboards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Time-based matching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4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Scoreboard Implementation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Complex comparison logic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Performance optimization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4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Transaction-Level Modeling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Concepts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What are transactions?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abstraction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fields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methods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Transaction-Level Modeling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class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Field definition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Constraint definition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implementation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Operations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creation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4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Transaction-Level Modeling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copying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comparison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conversion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4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Complete Agent Example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class definition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Component instantiation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Component connections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Build Phase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4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Complete Agent Example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Component creation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application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Active/passive selection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Connect Phase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Driver-sequencer connection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Monitor analysis 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4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Complete Agent Example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External connections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4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Sequence Libraries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Base sequences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Derived sequences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libraries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reuse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Common Sequences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4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Sequence Libraries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Simple sequences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Random sequences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Constrained sequences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Layered sequences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4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10. Agent Integration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Environment Integration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Adding agents to environment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connections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coordination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4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10. Agent Integration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instantiation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coordination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Result checking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4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Command reference highlights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Per-component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`./scripts/module4.sh --transactions --drivers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--monitors` — stimulus and observation building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bloc…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`./scripts/module4.sh --sequencers --scoreboards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--tlm` — sequence flow and analysis connections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`./scripts/module4.sh --agents` — complete agent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wiring before capstone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4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Integration 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`./scripts/module4.sh --pyuvm-tests` — run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`test_complete_agent` via orchestrator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`cd module4/tests/pyuvm_tests &amp;&amp; make SIM=verilator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TEST=test_complete_agent`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`./scripts/module4.sh --skip-examples --pyuvm-tests`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— capstone only when components are understood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4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Debug paths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 individual example Make under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`module4/examples/&lt;component&gt;/` to isolate failures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Increase UVM verbosity to trace sequence → driver →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monitor transaction paths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Verilator waveforms on interface valid/ready when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handshake debug is needed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4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Hands-on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4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Module 4 orchestrator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./scripts/module4.sh --help</a:t>
            </a:r>
          </a:p>
        </p:txBody>
      </p:sp>
      <p:pic>
        <p:nvPicPr>
          <p:cNvPr id="4" name="Picture 3" descr="module4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4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 scaffold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./scripts/module4.sh --scaffold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4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Driver 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.venv/bin/python module4/examples/drivers/driver_example.py</a:t>
            </a:r>
          </a:p>
        </p:txBody>
      </p:sp>
      <p:pic>
        <p:nvPicPr>
          <p:cNvPr id="4" name="Picture 3" descr="ex01_driv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4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Monitor 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.venv/bin/python module4/examples/monitors/monitor_example.py</a:t>
            </a:r>
          </a:p>
        </p:txBody>
      </p:sp>
      <p:pic>
        <p:nvPicPr>
          <p:cNvPr id="4" name="Picture 3" descr="ex02_monit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4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Sequencer and Sequences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.venv/bin/python module4/examples/sequencers/sequencer_example.py</a:t>
            </a:r>
          </a:p>
        </p:txBody>
      </p:sp>
      <p:pic>
        <p:nvPicPr>
          <p:cNvPr id="4" name="Picture 3" descr="ex03_sequenc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4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Complete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.venv/bin/python module4/examples/agents/agent_example.py</a:t>
            </a:r>
          </a:p>
        </p:txBody>
      </p:sp>
      <p:pic>
        <p:nvPicPr>
          <p:cNvPr id="4" name="Picture 3" descr="ex04_ag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Scoreboard 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.venv/bin/python module4/examples/scoreboards/scoreboard_example.py</a:t>
            </a:r>
          </a:p>
        </p:txBody>
      </p:sp>
      <p:pic>
        <p:nvPicPr>
          <p:cNvPr id="4" name="Picture 3" descr="ex05_scoreboa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4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TLM Communication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.venv/bin/python module4/examples/tlm/tlm_example.py</a:t>
            </a:r>
          </a:p>
        </p:txBody>
      </p:sp>
      <p:pic>
        <p:nvPicPr>
          <p:cNvPr id="4" name="Picture 3" descr="ex06_tl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4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Transaction Modeling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.venv/bin/python</a:t>
            </a:r>
          </a:p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module4/examples/transactions/transaction_example.py</a:t>
            </a:r>
          </a:p>
        </p:txBody>
      </p:sp>
      <p:pic>
        <p:nvPicPr>
          <p:cNvPr id="4" name="Picture 3" descr="ex07_transa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4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Practice &amp;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4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Understand agent architecture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Implement UVM drivers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Implement UVM monitors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Implement sequencers and sequences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analysis ports effectively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Implement scoreboards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4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Design transaction models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Build complete agents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Integrate agents into environments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Execute sequences in tests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 class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reception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4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driving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4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 Implementation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Monitor Implementation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Creation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Building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Scoreboard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4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Assessment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Understands agent architecture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implement drivers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implement monitors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implement sequencers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create sequences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use analysis ports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4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Summary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Build complete UVM agents with driver, monitor,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 module4/CHECKLIST.md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Review module4/EXAMPLES.md and run each lab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Next: Next module in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